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embeddedFontLst>
    <p:embeddedFont>
      <p:font typeface="Bellota Text"/>
      <p:regular r:id="rId201314"/>
    </p:embeddedFont>
    <p:embeddedFont>
      <p:font typeface="Bellota Text Bold"/>
      <p:regular r:id="rId201315"/>
    </p:embeddedFont>
    <p:embeddedFont>
      <p:font typeface="Nanum Myeongjo"/>
      <p:regular r:id="rId201316"/>
    </p:embeddedFont>
    <p:embeddedFont>
      <p:font typeface="Nanum Myeongjo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EAE3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F2E">
              <a:alpha val="48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EAE3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DD6C6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EAE3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4">
    <p:bg>
      <p:bgPr>
        <a:solidFill>
          <a:srgbClr val="EAE3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7985A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48400"/>
            <a:ext cx="12191695" cy="609600"/>
          </a:xfrm>
          <a:prstGeom prst="rect">
            <a:avLst/>
          </a:prstGeom>
          <a:solidFill>
            <a:srgbClr val="EAE3D3"/>
          </a:solidFill>
          <a:ln/>
        </p:spPr>
      </p:sp>
      <p:sp>
        <p:nvSpPr>
          <p:cNvPr id="3" name="Text 1"/>
          <p:cNvSpPr/>
          <p:nvPr/>
        </p:nvSpPr>
        <p:spPr>
          <a:xfrm>
            <a:off x="177895" y="6466086"/>
            <a:ext cx="151344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635A4B"/>
                </a:solidFill>
                <a:latin typeface="Bellota Text" pitchFamily="34" charset="0"/>
                <a:ea typeface="Bellota Text" pitchFamily="34" charset="-122"/>
                <a:cs typeface="Bellota Text" pitchFamily="34" charset="-120"/>
              </a:rPr>
              <a:t>KALAI RETREAT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630528" y="6466086"/>
            <a:ext cx="561167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635A4B"/>
                </a:solidFill>
                <a:latin typeface="Bellota Text" pitchFamily="34" charset="0"/>
                <a:ea typeface="Bellota Text" pitchFamily="34" charset="-122"/>
                <a:cs typeface="Bellota Text" pitchFamily="34" charset="-120"/>
              </a:rPr>
              <a:t>01 / 09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650959" y="1841500"/>
            <a:ext cx="8254793" cy="3416895"/>
          </a:xfrm>
          <a:prstGeom prst="roundRect">
            <a:avLst>
              <a:gd name="adj" fmla="val 781"/>
            </a:avLst>
          </a:prstGeom>
          <a:solidFill>
            <a:srgbClr val="1D2A1E"/>
          </a:solidFill>
          <a:ln/>
        </p:spPr>
      </p:sp>
      <p:sp>
        <p:nvSpPr>
          <p:cNvPr id="6" name="Text 4"/>
          <p:cNvSpPr/>
          <p:nvPr/>
        </p:nvSpPr>
        <p:spPr>
          <a:xfrm>
            <a:off x="1955751" y="2095500"/>
            <a:ext cx="8254793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spc="72" kern="100" dirty="0">
                <a:solidFill>
                  <a:srgbClr val="FFFFFF"/>
                </a:solidFill>
                <a:latin typeface="Bellota Text" pitchFamily="34" charset="0"/>
                <a:ea typeface="Bellota Text" pitchFamily="34" charset="-122"/>
                <a:cs typeface="Bellota Text" pitchFamily="34" charset="-120"/>
              </a:rPr>
              <a:t>RESEARCH PROPOSAL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955751" y="2404936"/>
            <a:ext cx="7645209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FFFFFF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Smart E-Commerce</a:t>
            </a:r>
            <a:endParaRPr lang="en-US" sz="50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FFFFFF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Purchase Intent &amp;</a:t>
            </a:r>
            <a:endParaRPr lang="en-US" sz="50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FFFFFF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Conversion Predictor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1955751" y="4445595"/>
            <a:ext cx="7645209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A leakage-safe framework for prediction, evaluation, and timely intervention.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029990"/>
            <a:ext cx="1158211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spc="72" kern="100" dirty="0">
                <a:solidFill>
                  <a:srgbClr val="635A4B"/>
                </a:solidFill>
                <a:latin typeface="Bellota Text" pitchFamily="34" charset="0"/>
                <a:ea typeface="Bellota Text" pitchFamily="34" charset="-122"/>
                <a:cs typeface="Bellota Text" pitchFamily="34" charset="-120"/>
              </a:rPr>
              <a:t>PROJECT CREDITS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1352530"/>
            <a:ext cx="1097252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7200" dirty="0">
                <a:solidFill>
                  <a:srgbClr val="635A4B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Smart prediction,</a:t>
            </a:r>
            <a:endParaRPr lang="en-US" sz="72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7200" dirty="0">
                <a:solidFill>
                  <a:srgbClr val="635A4B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careful evaluation.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609585" y="3445570"/>
            <a:ext cx="3620798" cy="19050"/>
          </a:xfrm>
          <a:prstGeom prst="roundRect">
            <a:avLst>
              <a:gd name="adj" fmla="val 49999"/>
            </a:avLst>
          </a:prstGeom>
          <a:solidFill>
            <a:srgbClr val="F4EEE1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3667820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635A4B"/>
                </a:solidFill>
                <a:latin typeface="Bellota Text Bold" pitchFamily="34" charset="0"/>
                <a:ea typeface="Bellota Text Bold" pitchFamily="34" charset="-122"/>
                <a:cs typeface="Bellota Text Bold" pitchFamily="34" charset="-120"/>
              </a:rPr>
              <a:t>Submitted By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585" y="4075410"/>
            <a:ext cx="10972526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635A4B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Sahar Osama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09585" y="4812010"/>
            <a:ext cx="10972526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635A4B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Sahar Reda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09585" y="5548610"/>
            <a:ext cx="10972526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635A4B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Samah Mohamed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09585" y="4577060"/>
            <a:ext cx="10972526" cy="1270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09585" y="5313660"/>
            <a:ext cx="10972526" cy="1270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6248400"/>
            <a:ext cx="12191695" cy="609600"/>
          </a:xfrm>
          <a:prstGeom prst="rect">
            <a:avLst/>
          </a:prstGeom>
          <a:solidFill>
            <a:srgbClr val="EAE3D3"/>
          </a:solidFill>
          <a:ln/>
        </p:spPr>
      </p:sp>
      <p:sp>
        <p:nvSpPr>
          <p:cNvPr id="12" name="Text 10"/>
          <p:cNvSpPr/>
          <p:nvPr/>
        </p:nvSpPr>
        <p:spPr>
          <a:xfrm>
            <a:off x="177895" y="6466086"/>
            <a:ext cx="151344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635A4B"/>
                </a:solidFill>
                <a:latin typeface="Bellota Text" pitchFamily="34" charset="0"/>
                <a:ea typeface="Bellota Text" pitchFamily="34" charset="-122"/>
                <a:cs typeface="Bellota Text" pitchFamily="34" charset="-120"/>
              </a:rPr>
              <a:t>KALAI RETREAT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610982" y="6466086"/>
            <a:ext cx="580713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635A4B"/>
                </a:solidFill>
                <a:latin typeface="Bellota Text" pitchFamily="34" charset="0"/>
                <a:ea typeface="Bellota Text" pitchFamily="34" charset="-122"/>
                <a:cs typeface="Bellota Text" pitchFamily="34" charset="-120"/>
              </a:rPr>
              <a:t>02 / 09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spc="72" kern="100" dirty="0">
                <a:solidFill>
                  <a:srgbClr val="7A4F20"/>
                </a:solidFill>
                <a:latin typeface="Bellota Text" pitchFamily="34" charset="0"/>
                <a:ea typeface="Bellota Text" pitchFamily="34" charset="-122"/>
                <a:cs typeface="Bellota Text" pitchFamily="34" charset="-120"/>
              </a:rPr>
              <a:t>THE 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95945"/>
            <a:ext cx="10972526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5000" dirty="0">
                <a:solidFill>
                  <a:srgbClr val="2B3F2E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Low conversion leaves high-value intent invisible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09585" y="2451695"/>
            <a:ext cx="1097252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2B3F2E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A large share of sessions ends without a purchase, even when browsing behavior may signal meaningful interest.</a:t>
            </a:r>
            <a:endParaRPr lang="en-US" sz="2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3137495"/>
            <a:ext cx="444489" cy="444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3686770"/>
            <a:ext cx="3454314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2B3F2E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Unresolved sessions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09585" y="4093170"/>
            <a:ext cx="3454314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635A4B"/>
                </a:solidFill>
                <a:latin typeface="Bellota Text" pitchFamily="34" charset="0"/>
                <a:ea typeface="Bellota Text" pitchFamily="34" charset="-122"/>
                <a:cs typeface="Bellota Text" pitchFamily="34" charset="-120"/>
              </a:rPr>
              <a:t>E-commerce conversion rates are typically around 15%, leaving many browsing sessions unresolved.</a:t>
            </a:r>
            <a:endParaRPr lang="en-US" sz="1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8691" y="3137495"/>
            <a:ext cx="444489" cy="4445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68691" y="3686770"/>
            <a:ext cx="3454314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2B3F2E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Real-time prediction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4368691" y="4093170"/>
            <a:ext cx="3454314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635A4B"/>
                </a:solidFill>
                <a:latin typeface="Bellota Text" pitchFamily="34" charset="0"/>
                <a:ea typeface="Bellota Text" pitchFamily="34" charset="-122"/>
                <a:cs typeface="Bellota Text" pitchFamily="34" charset="-120"/>
              </a:rPr>
              <a:t>The proposal is to predict whether a session is likely to end in purchase.</a:t>
            </a:r>
            <a:endParaRPr lang="en-US" sz="14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7797" y="3137495"/>
            <a:ext cx="444489" cy="4445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127797" y="3686770"/>
            <a:ext cx="3454314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2B3F2E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Earlier action</a:t>
            </a:r>
            <a:endParaRPr lang="en-US" sz="2000" dirty="0"/>
          </a:p>
        </p:txBody>
      </p:sp>
      <p:sp>
        <p:nvSpPr>
          <p:cNvPr id="13" name="Text 8"/>
          <p:cNvSpPr/>
          <p:nvPr/>
        </p:nvSpPr>
        <p:spPr>
          <a:xfrm>
            <a:off x="8127797" y="4093170"/>
            <a:ext cx="3454314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635A4B"/>
                </a:solidFill>
                <a:latin typeface="Bellota Text" pitchFamily="34" charset="0"/>
                <a:ea typeface="Bellota Text" pitchFamily="34" charset="-122"/>
                <a:cs typeface="Bellota Text" pitchFamily="34" charset="-120"/>
              </a:rPr>
              <a:t>Use the prediction to identify high-value visitors before they abandon the site.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0" y="6248400"/>
            <a:ext cx="12191695" cy="609600"/>
          </a:xfrm>
          <a:prstGeom prst="rect">
            <a:avLst/>
          </a:prstGeom>
          <a:solidFill>
            <a:srgbClr val="EAE3D3"/>
          </a:solidFill>
          <a:ln/>
        </p:spPr>
      </p:sp>
      <p:sp>
        <p:nvSpPr>
          <p:cNvPr id="15" name="Text 10"/>
          <p:cNvSpPr/>
          <p:nvPr/>
        </p:nvSpPr>
        <p:spPr>
          <a:xfrm>
            <a:off x="177895" y="6466086"/>
            <a:ext cx="151344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635A4B"/>
                </a:solidFill>
                <a:latin typeface="Bellota Text" pitchFamily="34" charset="0"/>
                <a:ea typeface="Bellota Text" pitchFamily="34" charset="-122"/>
                <a:cs typeface="Bellota Text" pitchFamily="34" charset="-120"/>
              </a:rPr>
              <a:t>KALAI RETREAT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11606021" y="6466086"/>
            <a:ext cx="585674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635A4B"/>
                </a:solidFill>
                <a:latin typeface="Bellota Text" pitchFamily="34" charset="0"/>
                <a:ea typeface="Bellota Text" pitchFamily="34" charset="-122"/>
                <a:cs typeface="Bellota Text" pitchFamily="34" charset="-120"/>
              </a:rPr>
              <a:t>03 / 09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spc="72" kern="100" dirty="0">
                <a:solidFill>
                  <a:srgbClr val="7A4F20"/>
                </a:solidFill>
                <a:latin typeface="Bellota Text" pitchFamily="34" charset="0"/>
                <a:ea typeface="Bellota Text" pitchFamily="34" charset="-122"/>
                <a:cs typeface="Bellota Text" pitchFamily="34" charset="-120"/>
              </a:rPr>
              <a:t>SYSTEM LOGIC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95945"/>
            <a:ext cx="10972526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5000" dirty="0">
                <a:solidFill>
                  <a:srgbClr val="2B3F2E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The system turns session behavior into an intervention signal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09585" y="2534245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635A4B"/>
                </a:solidFill>
                <a:latin typeface="Bellota Text" pitchFamily="34" charset="0"/>
                <a:ea typeface="Bellota Text" pitchFamily="34" charset="-122"/>
                <a:cs typeface="Bellota Text" pitchFamily="34" charset="-120"/>
              </a:rPr>
              <a:t>Three stages connect observed browsing behavior to a practical marketing response.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585" y="2941836"/>
            <a:ext cx="3454314" cy="3306564"/>
          </a:xfrm>
          <a:prstGeom prst="rect">
            <a:avLst/>
          </a:prstGeom>
          <a:solidFill>
            <a:srgbClr val="F4EEE1"/>
          </a:solidFill>
          <a:ln/>
        </p:spPr>
      </p:sp>
      <p:sp>
        <p:nvSpPr>
          <p:cNvPr id="6" name="Text 4"/>
          <p:cNvSpPr/>
          <p:nvPr/>
        </p:nvSpPr>
        <p:spPr>
          <a:xfrm>
            <a:off x="838179" y="3170436"/>
            <a:ext cx="78886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Bellota Text Bold" pitchFamily="34" charset="0"/>
                <a:ea typeface="Bellota Text Bold" pitchFamily="34" charset="-122"/>
                <a:cs typeface="Bellota Text Bold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38179" y="3419376"/>
            <a:ext cx="2997125" cy="19050"/>
          </a:xfrm>
          <a:prstGeom prst="rect">
            <a:avLst/>
          </a:prstGeom>
          <a:solidFill>
            <a:srgbClr val="F4EEE1"/>
          </a:solidFill>
          <a:ln/>
        </p:spPr>
      </p:sp>
      <p:sp>
        <p:nvSpPr>
          <p:cNvPr id="8" name="Text 6"/>
          <p:cNvSpPr/>
          <p:nvPr/>
        </p:nvSpPr>
        <p:spPr>
          <a:xfrm>
            <a:off x="838179" y="3545086"/>
            <a:ext cx="2997125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Capture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38179" y="3951486"/>
            <a:ext cx="2997125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Bellota Text" pitchFamily="34" charset="0"/>
                <a:ea typeface="Bellota Text" pitchFamily="34" charset="-122"/>
                <a:cs typeface="Bellota Text" pitchFamily="34" charset="-120"/>
              </a:rPr>
              <a:t>Capture behavioral signals from the browsing session.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68691" y="2941836"/>
            <a:ext cx="3454314" cy="3306564"/>
          </a:xfrm>
          <a:prstGeom prst="rect">
            <a:avLst/>
          </a:prstGeom>
          <a:solidFill>
            <a:srgbClr val="F4EEE1"/>
          </a:solidFill>
          <a:ln/>
        </p:spPr>
      </p:sp>
      <p:sp>
        <p:nvSpPr>
          <p:cNvPr id="11" name="Text 9"/>
          <p:cNvSpPr/>
          <p:nvPr/>
        </p:nvSpPr>
        <p:spPr>
          <a:xfrm>
            <a:off x="4597285" y="3170436"/>
            <a:ext cx="815657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Bellota Text Bold" pitchFamily="34" charset="0"/>
                <a:ea typeface="Bellota Text Bold" pitchFamily="34" charset="-122"/>
                <a:cs typeface="Bellota Text Bold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97285" y="3419376"/>
            <a:ext cx="2997125" cy="19050"/>
          </a:xfrm>
          <a:prstGeom prst="rect">
            <a:avLst/>
          </a:prstGeom>
          <a:solidFill>
            <a:srgbClr val="F4EEE1"/>
          </a:solidFill>
          <a:ln/>
        </p:spPr>
      </p:sp>
      <p:sp>
        <p:nvSpPr>
          <p:cNvPr id="13" name="Text 11"/>
          <p:cNvSpPr/>
          <p:nvPr/>
        </p:nvSpPr>
        <p:spPr>
          <a:xfrm>
            <a:off x="4597285" y="3545086"/>
            <a:ext cx="2997125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Estimate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97285" y="3951486"/>
            <a:ext cx="2997125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Bellota Text" pitchFamily="34" charset="0"/>
                <a:ea typeface="Bellota Text" pitchFamily="34" charset="-122"/>
                <a:cs typeface="Bellota Text" pitchFamily="34" charset="-120"/>
              </a:rPr>
              <a:t>Estimate purchase intent with a trained classification model.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27797" y="2941836"/>
            <a:ext cx="3454314" cy="3306564"/>
          </a:xfrm>
          <a:prstGeom prst="rect">
            <a:avLst/>
          </a:prstGeom>
          <a:solidFill>
            <a:srgbClr val="F4EEE1"/>
          </a:solidFill>
          <a:ln/>
        </p:spPr>
      </p:sp>
      <p:sp>
        <p:nvSpPr>
          <p:cNvPr id="16" name="Text 14"/>
          <p:cNvSpPr/>
          <p:nvPr/>
        </p:nvSpPr>
        <p:spPr>
          <a:xfrm>
            <a:off x="8356391" y="3170436"/>
            <a:ext cx="822801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Bellota Text Bold" pitchFamily="34" charset="0"/>
                <a:ea typeface="Bellota Text Bold" pitchFamily="34" charset="-122"/>
                <a:cs typeface="Bellota Text Bold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356391" y="3419376"/>
            <a:ext cx="2997125" cy="19050"/>
          </a:xfrm>
          <a:prstGeom prst="rect">
            <a:avLst/>
          </a:prstGeom>
          <a:solidFill>
            <a:srgbClr val="F4EEE1"/>
          </a:solidFill>
          <a:ln/>
        </p:spPr>
      </p:sp>
      <p:sp>
        <p:nvSpPr>
          <p:cNvPr id="18" name="Text 16"/>
          <p:cNvSpPr/>
          <p:nvPr/>
        </p:nvSpPr>
        <p:spPr>
          <a:xfrm>
            <a:off x="8356391" y="3545086"/>
            <a:ext cx="2997125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Intervene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356391" y="3951486"/>
            <a:ext cx="2997125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Bellota Text" pitchFamily="34" charset="0"/>
                <a:ea typeface="Bellota Text" pitchFamily="34" charset="-122"/>
                <a:cs typeface="Bellota Text" pitchFamily="34" charset="-120"/>
              </a:rPr>
              <a:t>Trigger proactive marketing interventions for high-value visitors.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6248400"/>
            <a:ext cx="12191695" cy="609600"/>
          </a:xfrm>
          <a:prstGeom prst="rect">
            <a:avLst/>
          </a:prstGeom>
          <a:solidFill>
            <a:srgbClr val="EAE3D3"/>
          </a:solidFill>
          <a:ln/>
        </p:spPr>
      </p:sp>
      <p:sp>
        <p:nvSpPr>
          <p:cNvPr id="21" name="Text 19"/>
          <p:cNvSpPr/>
          <p:nvPr/>
        </p:nvSpPr>
        <p:spPr>
          <a:xfrm>
            <a:off x="177895" y="6466086"/>
            <a:ext cx="151344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635A4B"/>
                </a:solidFill>
                <a:latin typeface="Bellota Text" pitchFamily="34" charset="0"/>
                <a:ea typeface="Bellota Text" pitchFamily="34" charset="-122"/>
                <a:cs typeface="Bellota Text" pitchFamily="34" charset="-120"/>
              </a:rPr>
              <a:t>KALAI RETREAT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606617" y="6466086"/>
            <a:ext cx="585078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635A4B"/>
                </a:solidFill>
                <a:latin typeface="Bellota Text" pitchFamily="34" charset="0"/>
                <a:ea typeface="Bellota Text" pitchFamily="34" charset="-122"/>
                <a:cs typeface="Bellota Text" pitchFamily="34" charset="-120"/>
              </a:rPr>
              <a:t>04 / 09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405632"/>
            <a:ext cx="1158211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spc="72" kern="100" dirty="0">
                <a:solidFill>
                  <a:srgbClr val="7A4F20"/>
                </a:solidFill>
                <a:latin typeface="Bellota Text" pitchFamily="34" charset="0"/>
                <a:ea typeface="Bellota Text" pitchFamily="34" charset="-122"/>
                <a:cs typeface="Bellota Text" pitchFamily="34" charset="-120"/>
              </a:rPr>
              <a:t>EXPERIMENTAL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1691977"/>
            <a:ext cx="10972526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5000" dirty="0">
                <a:solidFill>
                  <a:srgbClr val="2B3F2E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Methodological rigor starts before model training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09585" y="3266777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635A4B"/>
                </a:solidFill>
                <a:latin typeface="Bellota Text" pitchFamily="34" charset="0"/>
                <a:ea typeface="Bellota Text" pitchFamily="34" charset="-122"/>
                <a:cs typeface="Bellota Text" pitchFamily="34" charset="-120"/>
              </a:rPr>
              <a:t>Leakage control is established in the data-splitting sequence, before any balancing operation is applied.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3674368"/>
            <a:ext cx="10972526" cy="1778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248400"/>
            <a:ext cx="12191695" cy="609600"/>
          </a:xfrm>
          <a:prstGeom prst="rect">
            <a:avLst/>
          </a:prstGeom>
          <a:solidFill>
            <a:srgbClr val="EAE3D3"/>
          </a:solidFill>
          <a:ln/>
        </p:spPr>
      </p:sp>
      <p:sp>
        <p:nvSpPr>
          <p:cNvPr id="7" name="Text 4"/>
          <p:cNvSpPr/>
          <p:nvPr/>
        </p:nvSpPr>
        <p:spPr>
          <a:xfrm>
            <a:off x="177895" y="6466086"/>
            <a:ext cx="151344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635A4B"/>
                </a:solidFill>
                <a:latin typeface="Bellota Text" pitchFamily="34" charset="0"/>
                <a:ea typeface="Bellota Text" pitchFamily="34" charset="-122"/>
                <a:cs typeface="Bellota Text" pitchFamily="34" charset="-120"/>
              </a:rPr>
              <a:t>KALAI RETREAT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607609" y="6466086"/>
            <a:ext cx="584086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635A4B"/>
                </a:solidFill>
                <a:latin typeface="Bellota Text" pitchFamily="34" charset="0"/>
                <a:ea typeface="Bellota Text" pitchFamily="34" charset="-122"/>
                <a:cs typeface="Bellota Text" pitchFamily="34" charset="-120"/>
              </a:rPr>
              <a:t>05 / 09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spc="72" kern="100" dirty="0">
                <a:solidFill>
                  <a:srgbClr val="7A4F20"/>
                </a:solidFill>
                <a:latin typeface="Bellota Text" pitchFamily="34" charset="0"/>
                <a:ea typeface="Bellota Text" pitchFamily="34" charset="-122"/>
                <a:cs typeface="Bellota Text" pitchFamily="34" charset="-120"/>
              </a:rPr>
              <a:t>MODEL BENCHMARK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95945"/>
            <a:ext cx="10972526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5000" dirty="0">
                <a:solidFill>
                  <a:srgbClr val="2B3F2E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Five models create a meaningful comparison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09585" y="2534245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635A4B"/>
                </a:solidFill>
                <a:latin typeface="Bellota Text" pitchFamily="34" charset="0"/>
                <a:ea typeface="Bellota Text" pitchFamily="34" charset="-122"/>
                <a:cs typeface="Bellota Text" pitchFamily="34" charset="-120"/>
              </a:rPr>
              <a:t>Each candidate is assessed under the same preprocessing and evaluation protocol.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585" y="2941836"/>
            <a:ext cx="3505112" cy="1500882"/>
          </a:xfrm>
          <a:prstGeom prst="roundRect">
            <a:avLst>
              <a:gd name="adj" fmla="val 1777"/>
            </a:avLst>
          </a:prstGeom>
          <a:noFill/>
          <a:ln w="19050">
            <a:solidFill>
              <a:srgbClr val="4458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6430" y="3138686"/>
            <a:ext cx="3111422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2B3F2E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Logistic Regression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06430" y="3545086"/>
            <a:ext cx="3111422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635A4B"/>
                </a:solidFill>
                <a:latin typeface="Bellota Text" pitchFamily="34" charset="0"/>
                <a:ea typeface="Bellota Text" pitchFamily="34" charset="-122"/>
                <a:cs typeface="Bellota Text" pitchFamily="34" charset="-120"/>
              </a:rPr>
              <a:t>Interpretable baseline for purchase classification.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19489" y="2941836"/>
            <a:ext cx="3403515" cy="1500882"/>
          </a:xfrm>
          <a:prstGeom prst="roundRect">
            <a:avLst>
              <a:gd name="adj" fmla="val 1777"/>
            </a:avLst>
          </a:prstGeom>
          <a:noFill/>
          <a:ln w="19050">
            <a:solidFill>
              <a:srgbClr val="4458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6335" y="3138686"/>
            <a:ext cx="3009825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2B3F2E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KNN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616335" y="3545086"/>
            <a:ext cx="3009825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635A4B"/>
                </a:solidFill>
                <a:latin typeface="Bellota Text" pitchFamily="34" charset="0"/>
                <a:ea typeface="Bellota Text" pitchFamily="34" charset="-122"/>
                <a:cs typeface="Bellota Text" pitchFamily="34" charset="-120"/>
              </a:rPr>
              <a:t>Tests neighborhood-based decision behavior.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27797" y="2941836"/>
            <a:ext cx="3454314" cy="1500882"/>
          </a:xfrm>
          <a:prstGeom prst="roundRect">
            <a:avLst>
              <a:gd name="adj" fmla="val 1777"/>
            </a:avLst>
          </a:prstGeom>
          <a:noFill/>
          <a:ln w="19050">
            <a:solidFill>
              <a:srgbClr val="4458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4642" y="3138686"/>
            <a:ext cx="3060623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2B3F2E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SVM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324642" y="3545086"/>
            <a:ext cx="3060623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635A4B"/>
                </a:solidFill>
                <a:latin typeface="Bellota Text" pitchFamily="34" charset="0"/>
                <a:ea typeface="Bellota Text" pitchFamily="34" charset="-122"/>
                <a:cs typeface="Bellota Text" pitchFamily="34" charset="-120"/>
              </a:rPr>
              <a:t>Tests an alternative separating boundary.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9585" y="4747518"/>
            <a:ext cx="3505112" cy="1500882"/>
          </a:xfrm>
          <a:prstGeom prst="roundRect">
            <a:avLst>
              <a:gd name="adj" fmla="val 1777"/>
            </a:avLst>
          </a:prstGeom>
          <a:noFill/>
          <a:ln w="19050">
            <a:solidFill>
              <a:srgbClr val="4458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6430" y="4944368"/>
            <a:ext cx="3111422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2B3F2E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Decision Tree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06430" y="5350768"/>
            <a:ext cx="3308267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635A4B"/>
                </a:solidFill>
                <a:latin typeface="Bellota Text" pitchFamily="34" charset="0"/>
                <a:ea typeface="Bellota Text" pitchFamily="34" charset="-122"/>
                <a:cs typeface="Bellota Text" pitchFamily="34" charset="-120"/>
              </a:rPr>
              <a:t>Tests a rule-based decision structure.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419489" y="4747518"/>
            <a:ext cx="7162621" cy="1500882"/>
          </a:xfrm>
          <a:prstGeom prst="roundRect">
            <a:avLst>
              <a:gd name="adj" fmla="val 1777"/>
            </a:avLst>
          </a:prstGeom>
          <a:noFill/>
          <a:ln w="19050">
            <a:solidFill>
              <a:srgbClr val="4458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6335" y="4944368"/>
            <a:ext cx="6768931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2B3F2E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Random Forest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616335" y="5350768"/>
            <a:ext cx="6965776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635A4B"/>
                </a:solidFill>
                <a:latin typeface="Bellota Text" pitchFamily="34" charset="0"/>
                <a:ea typeface="Bellota Text" pitchFamily="34" charset="-122"/>
                <a:cs typeface="Bellota Text" pitchFamily="34" charset="-120"/>
              </a:rPr>
              <a:t>Tests ensemble behavior across multiple trees.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6248400"/>
            <a:ext cx="12191695" cy="609600"/>
          </a:xfrm>
          <a:prstGeom prst="rect">
            <a:avLst/>
          </a:prstGeom>
          <a:solidFill>
            <a:srgbClr val="EAE3D3"/>
          </a:solidFill>
          <a:ln/>
        </p:spPr>
      </p:sp>
      <p:sp>
        <p:nvSpPr>
          <p:cNvPr id="21" name="Text 19"/>
          <p:cNvSpPr/>
          <p:nvPr/>
        </p:nvSpPr>
        <p:spPr>
          <a:xfrm>
            <a:off x="177895" y="6466086"/>
            <a:ext cx="151344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635A4B"/>
                </a:solidFill>
                <a:latin typeface="Bellota Text" pitchFamily="34" charset="0"/>
                <a:ea typeface="Bellota Text" pitchFamily="34" charset="-122"/>
                <a:cs typeface="Bellota Text" pitchFamily="34" charset="-120"/>
              </a:rPr>
              <a:t>KALAI RETREAT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601656" y="6466086"/>
            <a:ext cx="59003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635A4B"/>
                </a:solidFill>
                <a:latin typeface="Bellota Text" pitchFamily="34" charset="0"/>
                <a:ea typeface="Bellota Text" pitchFamily="34" charset="-122"/>
                <a:cs typeface="Bellota Text" pitchFamily="34" charset="-120"/>
              </a:rPr>
              <a:t>06 / 09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spc="72" kern="100" dirty="0">
                <a:solidFill>
                  <a:srgbClr val="7A4F20"/>
                </a:solidFill>
                <a:latin typeface="Bellota Text" pitchFamily="34" charset="0"/>
                <a:ea typeface="Bellota Text" pitchFamily="34" charset="-122"/>
                <a:cs typeface="Bellota Text" pitchFamily="34" charset="-120"/>
              </a:rPr>
              <a:t>EVALUATION METRICS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95945"/>
            <a:ext cx="10972526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5000" dirty="0">
                <a:solidFill>
                  <a:srgbClr val="2B3F2E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F1-Score and ROC-AUC measure different kinds of success</a:t>
            </a:r>
            <a:endParaRPr lang="en-US" sz="5000" dirty="0"/>
          </a:p>
        </p:txBody>
      </p:sp>
      <p:sp>
        <p:nvSpPr>
          <p:cNvPr id="4" name="Shape 2"/>
          <p:cNvSpPr/>
          <p:nvPr/>
        </p:nvSpPr>
        <p:spPr>
          <a:xfrm>
            <a:off x="609585" y="2534245"/>
            <a:ext cx="5257668" cy="3039864"/>
          </a:xfrm>
          <a:prstGeom prst="rect">
            <a:avLst/>
          </a:prstGeom>
          <a:solidFill>
            <a:srgbClr val="DDD6C6"/>
          </a:solidFill>
          <a:ln/>
        </p:spPr>
      </p:sp>
      <p:sp>
        <p:nvSpPr>
          <p:cNvPr id="5" name="Shape 3"/>
          <p:cNvSpPr/>
          <p:nvPr/>
        </p:nvSpPr>
        <p:spPr>
          <a:xfrm>
            <a:off x="838179" y="3048496"/>
            <a:ext cx="1985119" cy="270173"/>
          </a:xfrm>
          <a:prstGeom prst="roundRect">
            <a:avLst>
              <a:gd name="adj" fmla="val 7897"/>
            </a:avLst>
          </a:prstGeom>
          <a:solidFill>
            <a:srgbClr val="F1EADA"/>
          </a:solidFill>
          <a:ln/>
        </p:spPr>
      </p:sp>
      <p:sp>
        <p:nvSpPr>
          <p:cNvPr id="6" name="Text 4"/>
          <p:cNvSpPr/>
          <p:nvPr/>
        </p:nvSpPr>
        <p:spPr>
          <a:xfrm>
            <a:off x="944837" y="3105544"/>
            <a:ext cx="2381389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635A4B"/>
                </a:solidFill>
                <a:latin typeface="Bellota Text" pitchFamily="34" charset="0"/>
                <a:ea typeface="Bellota Text" pitchFamily="34" charset="-122"/>
                <a:cs typeface="Bellota Text" pitchFamily="34" charset="-120"/>
              </a:rPr>
              <a:t>POSITIVE-CLASS BALANCE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38179" y="3427889"/>
            <a:ext cx="4800480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7200" dirty="0">
                <a:solidFill>
                  <a:srgbClr val="635A4B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F1-Score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838179" y="4562078"/>
            <a:ext cx="4800480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635A4B"/>
                </a:solidFill>
                <a:latin typeface="Bellota Text" pitchFamily="34" charset="0"/>
                <a:ea typeface="Bellota Text" pitchFamily="34" charset="-122"/>
                <a:cs typeface="Bellota Text" pitchFamily="34" charset="-120"/>
              </a:rPr>
              <a:t>Captures the balance between precision and recall for the positive purchase class.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24442" y="2534245"/>
            <a:ext cx="5257668" cy="3039864"/>
          </a:xfrm>
          <a:prstGeom prst="rect">
            <a:avLst/>
          </a:prstGeom>
          <a:solidFill>
            <a:srgbClr val="DDD6C6"/>
          </a:solidFill>
          <a:ln/>
        </p:spPr>
      </p:sp>
      <p:sp>
        <p:nvSpPr>
          <p:cNvPr id="10" name="Shape 8"/>
          <p:cNvSpPr/>
          <p:nvPr/>
        </p:nvSpPr>
        <p:spPr>
          <a:xfrm>
            <a:off x="6553036" y="3048496"/>
            <a:ext cx="1456296" cy="270173"/>
          </a:xfrm>
          <a:prstGeom prst="roundRect">
            <a:avLst>
              <a:gd name="adj" fmla="val 7897"/>
            </a:avLst>
          </a:prstGeom>
          <a:solidFill>
            <a:srgbClr val="F1EADA"/>
          </a:solidFill>
          <a:ln/>
        </p:spPr>
      </p:sp>
      <p:sp>
        <p:nvSpPr>
          <p:cNvPr id="11" name="Text 9"/>
          <p:cNvSpPr/>
          <p:nvPr/>
        </p:nvSpPr>
        <p:spPr>
          <a:xfrm>
            <a:off x="6659694" y="3105544"/>
            <a:ext cx="1852566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635A4B"/>
                </a:solidFill>
                <a:latin typeface="Bellota Text" pitchFamily="34" charset="0"/>
                <a:ea typeface="Bellota Text" pitchFamily="34" charset="-122"/>
                <a:cs typeface="Bellota Text" pitchFamily="34" charset="-120"/>
              </a:rPr>
              <a:t>RANKING QUALITY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53036" y="3427889"/>
            <a:ext cx="4800480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7200" dirty="0">
                <a:solidFill>
                  <a:srgbClr val="635A4B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ROC-AUC</a:t>
            </a:r>
            <a:endParaRPr lang="en-US" sz="7200" dirty="0"/>
          </a:p>
        </p:txBody>
      </p:sp>
      <p:sp>
        <p:nvSpPr>
          <p:cNvPr id="13" name="Text 11"/>
          <p:cNvSpPr/>
          <p:nvPr/>
        </p:nvSpPr>
        <p:spPr>
          <a:xfrm>
            <a:off x="6553036" y="4562078"/>
            <a:ext cx="4800480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635A4B"/>
                </a:solidFill>
                <a:latin typeface="Bellota Text" pitchFamily="34" charset="0"/>
                <a:ea typeface="Bellota Text" pitchFamily="34" charset="-122"/>
                <a:cs typeface="Bellota Text" pitchFamily="34" charset="-120"/>
              </a:rPr>
              <a:t>Measures ranking and discrimination across classification thresholds.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285349" y="5777309"/>
            <a:ext cx="3620798" cy="19050"/>
          </a:xfrm>
          <a:prstGeom prst="roundRect">
            <a:avLst>
              <a:gd name="adj" fmla="val 49999"/>
            </a:avLst>
          </a:prstGeom>
          <a:solidFill>
            <a:srgbClr val="F4EEE1"/>
          </a:solidFill>
          <a:ln/>
        </p:spPr>
      </p:sp>
      <p:sp>
        <p:nvSpPr>
          <p:cNvPr id="15" name="Text 13"/>
          <p:cNvSpPr/>
          <p:nvPr/>
        </p:nvSpPr>
        <p:spPr>
          <a:xfrm>
            <a:off x="304792" y="5999559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635A4B"/>
                </a:solidFill>
                <a:latin typeface="Bellota Text Bold" pitchFamily="34" charset="0"/>
                <a:ea typeface="Bellota Text Bold" pitchFamily="34" charset="-122"/>
                <a:cs typeface="Bellota Text Bold" pitchFamily="34" charset="-120"/>
              </a:rPr>
              <a:t>Report both metrics so performance is not reduced to a single number.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0" y="6248400"/>
            <a:ext cx="12191695" cy="609600"/>
          </a:xfrm>
          <a:prstGeom prst="rect">
            <a:avLst/>
          </a:prstGeom>
          <a:solidFill>
            <a:srgbClr val="EAE3D3"/>
          </a:solidFill>
          <a:ln/>
        </p:spPr>
      </p:sp>
      <p:sp>
        <p:nvSpPr>
          <p:cNvPr id="17" name="Text 15"/>
          <p:cNvSpPr/>
          <p:nvPr/>
        </p:nvSpPr>
        <p:spPr>
          <a:xfrm>
            <a:off x="177895" y="6466086"/>
            <a:ext cx="151344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635A4B"/>
                </a:solidFill>
                <a:latin typeface="Bellota Text" pitchFamily="34" charset="0"/>
                <a:ea typeface="Bellota Text" pitchFamily="34" charset="-122"/>
                <a:cs typeface="Bellota Text" pitchFamily="34" charset="-120"/>
              </a:rPr>
              <a:t>KALAI RETREAT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616340" y="6466086"/>
            <a:ext cx="57535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635A4B"/>
                </a:solidFill>
                <a:latin typeface="Bellota Text" pitchFamily="34" charset="0"/>
                <a:ea typeface="Bellota Text" pitchFamily="34" charset="-122"/>
                <a:cs typeface="Bellota Text" pitchFamily="34" charset="-120"/>
              </a:rPr>
              <a:t>07 / 09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spc="72" kern="100" dirty="0">
                <a:solidFill>
                  <a:srgbClr val="7A4F20"/>
                </a:solidFill>
                <a:latin typeface="Bellota Text" pitchFamily="34" charset="0"/>
                <a:ea typeface="Bellota Text" pitchFamily="34" charset="-122"/>
                <a:cs typeface="Bellota Text" pitchFamily="34" charset="-120"/>
              </a:rPr>
              <a:t>EVALUATION QUESTIONS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95945"/>
            <a:ext cx="10972526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5000" dirty="0">
                <a:solidFill>
                  <a:srgbClr val="2B3F2E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The evaluation answers both research and business questions</a:t>
            </a:r>
            <a:endParaRPr lang="en-US" sz="5000" dirty="0"/>
          </a:p>
        </p:txBody>
      </p:sp>
      <p:sp>
        <p:nvSpPr>
          <p:cNvPr id="4" name="Shape 2"/>
          <p:cNvSpPr/>
          <p:nvPr/>
        </p:nvSpPr>
        <p:spPr>
          <a:xfrm>
            <a:off x="609585" y="2534245"/>
            <a:ext cx="311142" cy="311150"/>
          </a:xfrm>
          <a:prstGeom prst="ellipse">
            <a:avLst/>
          </a:prstGeom>
          <a:solidFill>
            <a:srgbClr val="F4EEE1"/>
          </a:solidFill>
          <a:ln/>
        </p:spPr>
      </p:sp>
      <p:sp>
        <p:nvSpPr>
          <p:cNvPr id="5" name="Text 3"/>
          <p:cNvSpPr/>
          <p:nvPr/>
        </p:nvSpPr>
        <p:spPr>
          <a:xfrm>
            <a:off x="675464" y="2600920"/>
            <a:ext cx="78886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Bellota Text Bold" pitchFamily="34" charset="0"/>
                <a:ea typeface="Bellota Text Bold" pitchFamily="34" charset="-122"/>
                <a:cs typeface="Bellota Text Bold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585" y="2918420"/>
            <a:ext cx="3454314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2B3F2E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Reliability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09585" y="3324820"/>
            <a:ext cx="3454314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635A4B"/>
                </a:solidFill>
                <a:latin typeface="Bellota Text" pitchFamily="34" charset="0"/>
                <a:ea typeface="Bellota Text" pitchFamily="34" charset="-122"/>
                <a:cs typeface="Bellota Text" pitchFamily="34" charset="-120"/>
              </a:rPr>
              <a:t>Which model identifies likely purchasers most reliably?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68691" y="2534245"/>
            <a:ext cx="311142" cy="311150"/>
          </a:xfrm>
          <a:prstGeom prst="ellipse">
            <a:avLst/>
          </a:prstGeom>
          <a:solidFill>
            <a:srgbClr val="F4EEE1"/>
          </a:solidFill>
          <a:ln/>
        </p:spPr>
      </p:sp>
      <p:sp>
        <p:nvSpPr>
          <p:cNvPr id="9" name="Text 7"/>
          <p:cNvSpPr/>
          <p:nvPr/>
        </p:nvSpPr>
        <p:spPr>
          <a:xfrm>
            <a:off x="4421176" y="2600920"/>
            <a:ext cx="815657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Bellota Text Bold" pitchFamily="34" charset="0"/>
                <a:ea typeface="Bellota Text Bold" pitchFamily="34" charset="-122"/>
                <a:cs typeface="Bellota Text Bold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368691" y="2918420"/>
            <a:ext cx="3454314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2B3F2E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Comparison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368691" y="3324820"/>
            <a:ext cx="3454314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635A4B"/>
                </a:solidFill>
                <a:latin typeface="Bellota Text" pitchFamily="34" charset="0"/>
                <a:ea typeface="Bellota Text" pitchFamily="34" charset="-122"/>
                <a:cs typeface="Bellota Text" pitchFamily="34" charset="-120"/>
              </a:rPr>
              <a:t>How does performance change across competing algorithms?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27797" y="2534245"/>
            <a:ext cx="311142" cy="311150"/>
          </a:xfrm>
          <a:prstGeom prst="ellipse">
            <a:avLst/>
          </a:prstGeom>
          <a:solidFill>
            <a:srgbClr val="F4EEE1"/>
          </a:solidFill>
          <a:ln/>
        </p:spPr>
      </p:sp>
      <p:sp>
        <p:nvSpPr>
          <p:cNvPr id="13" name="Text 11"/>
          <p:cNvSpPr/>
          <p:nvPr/>
        </p:nvSpPr>
        <p:spPr>
          <a:xfrm>
            <a:off x="8176710" y="2600920"/>
            <a:ext cx="822801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Bellota Text Bold" pitchFamily="34" charset="0"/>
                <a:ea typeface="Bellota Text Bold" pitchFamily="34" charset="-122"/>
                <a:cs typeface="Bellota Text Bold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27797" y="2918420"/>
            <a:ext cx="3454314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2B3F2E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Usefulness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127797" y="3324820"/>
            <a:ext cx="3454314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635A4B"/>
                </a:solidFill>
                <a:latin typeface="Bellota Text" pitchFamily="34" charset="0"/>
                <a:ea typeface="Bellota Text" pitchFamily="34" charset="-122"/>
                <a:cs typeface="Bellota Text" pitchFamily="34" charset="-120"/>
              </a:rPr>
              <a:t>Can predictions support timely, targeted intervention without overstating certainty?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0" y="6248400"/>
            <a:ext cx="12191695" cy="609600"/>
          </a:xfrm>
          <a:prstGeom prst="rect">
            <a:avLst/>
          </a:prstGeom>
          <a:solidFill>
            <a:srgbClr val="EAE3D3"/>
          </a:solidFill>
          <a:ln/>
        </p:spPr>
      </p:sp>
      <p:sp>
        <p:nvSpPr>
          <p:cNvPr id="17" name="Text 15"/>
          <p:cNvSpPr/>
          <p:nvPr/>
        </p:nvSpPr>
        <p:spPr>
          <a:xfrm>
            <a:off x="177895" y="6466086"/>
            <a:ext cx="151344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635A4B"/>
                </a:solidFill>
                <a:latin typeface="Bellota Text" pitchFamily="34" charset="0"/>
                <a:ea typeface="Bellota Text" pitchFamily="34" charset="-122"/>
                <a:cs typeface="Bellota Text" pitchFamily="34" charset="-120"/>
              </a:rPr>
              <a:t>KALAI RETREAT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604235" y="6466086"/>
            <a:ext cx="587460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635A4B"/>
                </a:solidFill>
                <a:latin typeface="Bellota Text" pitchFamily="34" charset="0"/>
                <a:ea typeface="Bellota Text" pitchFamily="34" charset="-122"/>
                <a:cs typeface="Bellota Text" pitchFamily="34" charset="-120"/>
              </a:rPr>
              <a:t>08 / 09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976537"/>
            <a:ext cx="1158211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spc="72" kern="100" dirty="0">
                <a:solidFill>
                  <a:srgbClr val="3A1E13"/>
                </a:solidFill>
                <a:latin typeface="Bellota Text" pitchFamily="34" charset="0"/>
                <a:ea typeface="Bellota Text" pitchFamily="34" charset="-122"/>
                <a:cs typeface="Bellota Text" pitchFamily="34" charset="-120"/>
              </a:rPr>
              <a:t>PROPOSED CONTRIBUTION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2285973"/>
            <a:ext cx="10972526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382D15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Success means credible prediction that can guide action</a:t>
            </a:r>
            <a:endParaRPr lang="en-US" sz="5000" dirty="0"/>
          </a:p>
        </p:txBody>
      </p:sp>
      <p:sp>
        <p:nvSpPr>
          <p:cNvPr id="4" name="Shape 2"/>
          <p:cNvSpPr/>
          <p:nvPr/>
        </p:nvSpPr>
        <p:spPr>
          <a:xfrm>
            <a:off x="609585" y="3755132"/>
            <a:ext cx="3620798" cy="19050"/>
          </a:xfrm>
          <a:prstGeom prst="roundRect">
            <a:avLst>
              <a:gd name="adj" fmla="val 49999"/>
            </a:avLst>
          </a:prstGeom>
          <a:solidFill>
            <a:srgbClr val="B9603C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3977382"/>
            <a:ext cx="3454314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382D15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Rigor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09585" y="4383782"/>
            <a:ext cx="3454314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82D15"/>
                </a:solidFill>
                <a:latin typeface="Bellota Text" pitchFamily="34" charset="0"/>
                <a:ea typeface="Bellota Text" pitchFamily="34" charset="-122"/>
                <a:cs typeface="Bellota Text" pitchFamily="34" charset="-120"/>
              </a:rPr>
              <a:t>Deliver a leakage-safe experimental pipeline and comparative model evaluation.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68691" y="3977382"/>
            <a:ext cx="3454314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382D15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Evidence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368691" y="4383782"/>
            <a:ext cx="3454314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82D15"/>
                </a:solidFill>
                <a:latin typeface="Bellota Text" pitchFamily="34" charset="0"/>
                <a:ea typeface="Bellota Text" pitchFamily="34" charset="-122"/>
                <a:cs typeface="Bellota Text" pitchFamily="34" charset="-120"/>
              </a:rPr>
              <a:t>Identify the strongest model using F1-Score and ROC-AUC together.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127797" y="3977382"/>
            <a:ext cx="3454314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382D15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Action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127797" y="4383782"/>
            <a:ext cx="3454314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82D15"/>
                </a:solidFill>
                <a:latin typeface="Bellota Text" pitchFamily="34" charset="0"/>
                <a:ea typeface="Bellota Text" pitchFamily="34" charset="-122"/>
                <a:cs typeface="Bellota Text" pitchFamily="34" charset="-120"/>
              </a:rPr>
              <a:t>Translate the result into a practical signal for proactive e-commerce marketing.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0" y="6248400"/>
            <a:ext cx="12191695" cy="609600"/>
          </a:xfrm>
          <a:prstGeom prst="rect">
            <a:avLst/>
          </a:prstGeom>
          <a:solidFill>
            <a:srgbClr val="EAE3D3"/>
          </a:solidFill>
          <a:ln/>
        </p:spPr>
      </p:sp>
      <p:sp>
        <p:nvSpPr>
          <p:cNvPr id="12" name="Text 10"/>
          <p:cNvSpPr/>
          <p:nvPr/>
        </p:nvSpPr>
        <p:spPr>
          <a:xfrm>
            <a:off x="177895" y="6466086"/>
            <a:ext cx="151344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635A4B"/>
                </a:solidFill>
                <a:latin typeface="Bellota Text" pitchFamily="34" charset="0"/>
                <a:ea typeface="Bellota Text" pitchFamily="34" charset="-122"/>
                <a:cs typeface="Bellota Text" pitchFamily="34" charset="-120"/>
              </a:rPr>
              <a:t>KALAI RETREAT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602053" y="6466086"/>
            <a:ext cx="589642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635A4B"/>
                </a:solidFill>
                <a:latin typeface="Bellota Text" pitchFamily="34" charset="0"/>
                <a:ea typeface="Bellota Text" pitchFamily="34" charset="-122"/>
                <a:cs typeface="Bellota Text" pitchFamily="34" charset="-120"/>
              </a:rPr>
              <a:t>09 / 09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2026-10-15T19:20:11Z</dcterms:created>
  <dcterms:modified xsi:type="dcterms:W3CDTF">2026-10-15T19:20:11Z</dcterms:modified>
</cp:coreProperties>
</file>